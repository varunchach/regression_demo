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8" r:id="rId9"/>
    <p:sldId id="269" r:id="rId10"/>
    <p:sldId id="263" r:id="rId11"/>
    <p:sldId id="267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7F65D-16C8-AA80-0B41-D70355461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4A3B7-E37B-9E1C-8FB6-C1F9C1444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3FF4B-221F-751A-8BA6-2E6A11A5B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B8843-828A-412E-9CFA-E88AFB97FB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DFA2A-1031-50AC-E564-D3EE051EC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2BA17-ACC4-5D63-AACE-1AEAF7641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6E0F-E73A-4821-961D-3CE4A5528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055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1E93B-1EC6-AD56-1292-23E8BC0AF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CB941-BDA1-3834-3802-8D9E20FA1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33784-CB21-92B9-5FB7-4B1666EB0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B8843-828A-412E-9CFA-E88AFB97FB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88AFA-BE9A-4B21-EB45-70FFF83ED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D8989-DFC1-13BD-24A8-BC7D268A5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6E0F-E73A-4821-961D-3CE4A5528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795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8DFEF-BE6B-1DE9-181B-F5F51B9C0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B70F1-2068-0ECE-DF66-43DA61D5A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9BC21-2617-6B78-BF98-812F5F28B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B8843-828A-412E-9CFA-E88AFB97FB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C3E46-1369-212C-254F-B715B32DA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83A30-5C02-FB6D-6710-664F60126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6E0F-E73A-4821-961D-3CE4A5528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10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05AFB-555A-1775-A1AF-78E4C6036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AC07A-7872-E7F1-F85A-157045B34A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47082-85E2-C7B2-1D40-1B7EBB233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E71030-F737-BD82-D75C-F1A22AED5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B8843-828A-412E-9CFA-E88AFB97FB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27206-6D03-F8D8-7112-82C47BB94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C973EF-431E-EA09-294B-9FA641A5E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6E0F-E73A-4821-961D-3CE4A5528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491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EDCC7-3F16-156A-8306-BBF2C11C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83C30-0F09-4CCB-FFCD-DE62DC140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6D6025-8477-6613-BAF9-65C8804B3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3E7CE4-874C-F96C-80E5-E0A61169C5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4DE18E-1BD4-84F5-6007-2889BD9D3E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B7DFEF-6406-75B4-0017-357C3DA3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B8843-828A-412E-9CFA-E88AFB97FB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9379C6-D743-8521-31E3-862B69EB6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CF8822-D0D2-E357-81C0-49CBE7F57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6E0F-E73A-4821-961D-3CE4A5528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009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05847-EDEE-884F-A20D-9FBC91066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423055-C04F-A5AE-4E2C-FCA3E83FE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B8843-828A-412E-9CFA-E88AFB97FB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04C9E2-EF9B-F12E-B56D-CAC3C04CD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44448-1779-7960-F92A-380D05A45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6E0F-E73A-4821-961D-3CE4A5528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57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E4AC8C-5719-723D-7D28-06A64ED6B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B8843-828A-412E-9CFA-E88AFB97FB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F37AD9-A033-6CD3-B7E5-55B5E0B86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95DFF-D232-C9C6-564C-51ECDE2E2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6E0F-E73A-4821-961D-3CE4A5528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919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3BA6D-C258-9138-9DED-BA5A45C2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10E31-0F70-4EB8-1F00-9BB942210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AD8D97-7AD7-B79F-0363-518624F5F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4E11A-DFA5-B2D8-43C5-5A1218A5F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B8843-828A-412E-9CFA-E88AFB97FB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0E966-C2F8-2038-1810-B5DD92DF2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CDC52-4519-D95B-2A9C-23DA2C757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6E0F-E73A-4821-961D-3CE4A5528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89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536E8-CA62-0DDF-3A2D-D57AD39BD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5A85C-0043-742D-1922-8E04DCD723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2BA94-F7A1-AB01-F20F-3BC472B33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F4880-8C64-9729-8283-31D78DDD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B8843-828A-412E-9CFA-E88AFB97FB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B26A6-E2C2-C50A-98AC-19FD7E336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9B8B5-AA02-76C4-BB60-34E370422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6E0F-E73A-4821-961D-3CE4A5528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66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AA97A-7A2D-7A11-D392-2C0FAE944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1741D8-DE8B-ADEF-EC86-6A9F3E238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C2D8A-8B7A-943D-FD99-9809DC2F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B8843-828A-412E-9CFA-E88AFB97FB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B5784-0F4D-AEDF-5A59-646C917EC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00CA1-0F90-65D4-94C0-DD8FC1047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6E0F-E73A-4821-961D-3CE4A5528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124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6726BC-3621-FB6B-B18D-6B1D78ED8C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6664EA-6B53-2FC0-4632-FCB470CF6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16A5A-1E99-51A5-1351-182D9AD18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B8843-828A-412E-9CFA-E88AFB97FB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394CE-76B2-E19C-3C03-7256FB09B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0C3DF-97AE-3D03-D50D-3FC54530F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E6E0F-E73A-4821-961D-3CE4A5528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874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D6685E-43C2-A789-8459-B37B59528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88533-188E-D2C9-D0DA-3D713B444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7160C-907E-0E08-6B82-716BEE3AED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B8843-828A-412E-9CFA-E88AFB97FB6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8C56D-65F5-5C5C-B4C8-D64946485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2EE5F-B516-2E70-A53C-DD8296928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E6E0F-E73A-4821-961D-3CE4A5528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343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92D06-BEAE-CF1F-C187-FA8E822BF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6684" y="406400"/>
            <a:ext cx="9144000" cy="2387600"/>
          </a:xfrm>
        </p:spPr>
        <p:txBody>
          <a:bodyPr/>
          <a:lstStyle/>
          <a:p>
            <a:r>
              <a:rPr lang="en-IN" dirty="0"/>
              <a:t>Regression in Business </a:t>
            </a:r>
            <a:br>
              <a:rPr lang="en-IN" dirty="0"/>
            </a:br>
            <a:r>
              <a:rPr lang="en-IN" dirty="0"/>
              <a:t>Regularisation in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49D87D-34A8-6EB8-F5B8-934365929657}"/>
              </a:ext>
            </a:extLst>
          </p:cNvPr>
          <p:cNvSpPr txBox="1"/>
          <p:nvPr/>
        </p:nvSpPr>
        <p:spPr>
          <a:xfrm>
            <a:off x="8524568" y="4562168"/>
            <a:ext cx="2998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Varun Raste</a:t>
            </a:r>
          </a:p>
        </p:txBody>
      </p:sp>
    </p:spTree>
    <p:extLst>
      <p:ext uri="{BB962C8B-B14F-4D97-AF65-F5344CB8AC3E}">
        <p14:creationId xmlns:p14="http://schemas.microsoft.com/office/powerpoint/2010/main" val="291047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2AD1CC-7773-3CB9-D1B2-0F2C4ACBAD8C}"/>
              </a:ext>
            </a:extLst>
          </p:cNvPr>
          <p:cNvSpPr txBox="1"/>
          <p:nvPr/>
        </p:nvSpPr>
        <p:spPr>
          <a:xfrm>
            <a:off x="3441290" y="176981"/>
            <a:ext cx="9045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Assumptions of Multiple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642A5C-3E58-E4F0-9F50-3BAD4D8BE146}"/>
              </a:ext>
            </a:extLst>
          </p:cNvPr>
          <p:cNvSpPr txBox="1"/>
          <p:nvPr/>
        </p:nvSpPr>
        <p:spPr>
          <a:xfrm>
            <a:off x="245806" y="806245"/>
            <a:ext cx="666627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Linearity:</a:t>
            </a:r>
            <a:br>
              <a:rPr lang="en-US" dirty="0"/>
            </a:br>
            <a:r>
              <a:rPr lang="en-US" dirty="0"/>
              <a:t>The relationship between independent variables and the dependent variable should be linear in nature.</a:t>
            </a:r>
          </a:p>
          <a:p>
            <a:pPr marL="342900" indent="-342900">
              <a:buAutoNum type="arabicPeriod"/>
            </a:pP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Independence of Errors:</a:t>
            </a:r>
            <a:br>
              <a:rPr lang="en-US" dirty="0"/>
            </a:br>
            <a:r>
              <a:rPr lang="en-US" dirty="0"/>
              <a:t>Residuals (errors) should be independent of each other — no autocorrelation should exist.</a:t>
            </a:r>
          </a:p>
          <a:p>
            <a:pPr marL="342900" indent="-342900">
              <a:buAutoNum type="arabicPeriod"/>
            </a:pP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Homoscedasticity:</a:t>
            </a:r>
            <a:br>
              <a:rPr lang="en-US" dirty="0"/>
            </a:br>
            <a:r>
              <a:rPr lang="en-US" dirty="0"/>
              <a:t>The variance of residuals should remain constant across all levels of the independent variables.</a:t>
            </a:r>
          </a:p>
          <a:p>
            <a:pPr marL="342900" indent="-342900">
              <a:buAutoNum type="arabicPeriod"/>
            </a:pP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No Multicollinearity:</a:t>
            </a:r>
            <a:br>
              <a:rPr lang="en-US" dirty="0"/>
            </a:br>
            <a:r>
              <a:rPr lang="en-US" dirty="0"/>
              <a:t>Independent variables should not be highly correlated with each other to ensure reliable coefficient estimates.</a:t>
            </a:r>
          </a:p>
          <a:p>
            <a:pPr marL="342900" indent="-342900">
              <a:buAutoNum type="arabicPeriod"/>
            </a:pP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Normality of Residuals:</a:t>
            </a:r>
            <a:br>
              <a:rPr lang="en-US" dirty="0"/>
            </a:br>
            <a:r>
              <a:rPr lang="en-US" dirty="0"/>
              <a:t>Residuals should follow a normal distribution for valid hypothesis testing and confidence intervals.</a:t>
            </a:r>
          </a:p>
          <a:p>
            <a:endParaRPr lang="en-IN" dirty="0"/>
          </a:p>
        </p:txBody>
      </p:sp>
      <p:pic>
        <p:nvPicPr>
          <p:cNvPr id="4098" name="Picture 2" descr="What Is Multiple Linear Regression (MLR)?">
            <a:extLst>
              <a:ext uri="{FF2B5EF4-FFF2-40B4-BE49-F238E27FC236}">
                <a16:creationId xmlns:a16="http://schemas.microsoft.com/office/drawing/2014/main" id="{D89EA56C-B747-7F05-2089-B01BAE601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867" y="2072603"/>
            <a:ext cx="4655133" cy="1968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3357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25E70-4AF2-876A-A421-3A796F952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00BEEA-650B-3A11-B8EA-FAFB3FCC4C7A}"/>
              </a:ext>
            </a:extLst>
          </p:cNvPr>
          <p:cNvSpPr txBox="1"/>
          <p:nvPr/>
        </p:nvSpPr>
        <p:spPr>
          <a:xfrm>
            <a:off x="3991897" y="127819"/>
            <a:ext cx="9045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What is Polynomial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5BE824-EC13-7B9D-36FB-BB00ECEEF898}"/>
                  </a:ext>
                </a:extLst>
              </p:cNvPr>
              <p:cNvSpPr txBox="1"/>
              <p:nvPr/>
            </p:nvSpPr>
            <p:spPr>
              <a:xfrm>
                <a:off x="127819" y="737419"/>
                <a:ext cx="7452852" cy="6007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IN" sz="1600" b="1" dirty="0"/>
                  <a:t>Definition:</a:t>
                </a:r>
                <a:br>
                  <a:rPr lang="en-IN" sz="1600" dirty="0"/>
                </a:br>
                <a:r>
                  <a:rPr lang="en-IN" sz="1600" dirty="0"/>
                  <a:t>Polynomial regression models the relationship between variables as an </a:t>
                </a:r>
                <a:r>
                  <a:rPr lang="en-IN" sz="1600" i="1" dirty="0"/>
                  <a:t>nth-degree polynomial</a:t>
                </a:r>
                <a:r>
                  <a:rPr lang="en-IN" sz="1600" dirty="0"/>
                  <a:t> rather than a straight line.</a:t>
                </a:r>
              </a:p>
              <a:p>
                <a:pPr marL="342900" indent="-342900">
                  <a:buAutoNum type="arabicPeriod"/>
                </a:pPr>
                <a:endParaRPr lang="en-IN" sz="1600" b="1" dirty="0"/>
              </a:p>
              <a:p>
                <a:pPr marL="342900" indent="-342900">
                  <a:buAutoNum type="arabicPeriod"/>
                </a:pPr>
                <a:r>
                  <a:rPr lang="en-IN" sz="1600" b="1" dirty="0"/>
                  <a:t>Equation Form:</a:t>
                </a:r>
                <a:br>
                  <a:rPr lang="en-IN" sz="1600" dirty="0"/>
                </a:br>
                <a:r>
                  <a:rPr lang="en-IN" sz="1600" dirty="0"/>
                  <a:t>The model includes higher-order terms like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sz="16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sz="160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sz="160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ar-AE" sz="1600"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IN" sz="1600" dirty="0"/>
                  <a:t>to capture curvature in the data.</a:t>
                </a:r>
              </a:p>
              <a:p>
                <a:pPr marL="342900" indent="-342900">
                  <a:buAutoNum type="arabicPeriod"/>
                </a:pPr>
                <a:endParaRPr lang="en-IN" sz="1600" b="1" dirty="0"/>
              </a:p>
              <a:p>
                <a:pPr marL="342900" indent="-342900">
                  <a:buAutoNum type="arabicPeriod"/>
                </a:pPr>
                <a:r>
                  <a:rPr lang="en-IN" sz="1600" b="1" dirty="0"/>
                  <a:t>Handles Non-linearity:</a:t>
                </a:r>
                <a:br>
                  <a:rPr lang="en-IN" sz="1600" dirty="0"/>
                </a:br>
                <a:r>
                  <a:rPr lang="en-IN" sz="1600" dirty="0"/>
                  <a:t>It is used when the relationship between dependent and independent variables is </a:t>
                </a:r>
                <a:r>
                  <a:rPr lang="en-IN" sz="1600" i="1" dirty="0"/>
                  <a:t>non-linear but continuous</a:t>
                </a:r>
                <a:r>
                  <a:rPr lang="en-IN" sz="1600" dirty="0"/>
                  <a:t>.</a:t>
                </a:r>
              </a:p>
              <a:p>
                <a:pPr marL="342900" indent="-342900">
                  <a:buAutoNum type="arabicPeriod"/>
                </a:pPr>
                <a:endParaRPr lang="en-IN" sz="1600" b="1" dirty="0"/>
              </a:p>
              <a:p>
                <a:pPr marL="342900" indent="-342900">
                  <a:buAutoNum type="arabicPeriod"/>
                </a:pPr>
                <a:r>
                  <a:rPr lang="en-IN" sz="1600" b="1" dirty="0"/>
                  <a:t>Extension of Linear Regression:</a:t>
                </a:r>
                <a:br>
                  <a:rPr lang="en-IN" sz="1600" dirty="0"/>
                </a:br>
                <a:r>
                  <a:rPr lang="en-IN" sz="1600" dirty="0"/>
                  <a:t>Although non-linear in form, it remains a </a:t>
                </a:r>
                <a:r>
                  <a:rPr lang="en-IN" sz="1600" i="1" dirty="0"/>
                  <a:t>linear model in parameters</a:t>
                </a:r>
                <a:r>
                  <a:rPr lang="en-IN" sz="1600" dirty="0"/>
                  <a:t> — coefficients are estimated using OLS.</a:t>
                </a:r>
              </a:p>
              <a:p>
                <a:pPr marL="342900" indent="-342900">
                  <a:buAutoNum type="arabicPeriod"/>
                </a:pPr>
                <a:endParaRPr lang="en-IN" sz="1600" b="1" dirty="0"/>
              </a:p>
              <a:p>
                <a:pPr marL="342900" indent="-342900">
                  <a:buAutoNum type="arabicPeriod"/>
                </a:pPr>
                <a:r>
                  <a:rPr lang="en-IN" sz="1600" b="1" dirty="0"/>
                  <a:t>Degree Selection:</a:t>
                </a:r>
                <a:br>
                  <a:rPr lang="en-IN" sz="1600" dirty="0"/>
                </a:br>
                <a:r>
                  <a:rPr lang="en-IN" sz="1600" dirty="0"/>
                  <a:t>Choosing the right polynomial degree is crucial — too high can lead to </a:t>
                </a:r>
                <a:r>
                  <a:rPr lang="en-IN" sz="1600" i="1" dirty="0"/>
                  <a:t>overfitting</a:t>
                </a:r>
                <a:r>
                  <a:rPr lang="en-IN" sz="1600" dirty="0"/>
                  <a:t>, too low to </a:t>
                </a:r>
                <a:r>
                  <a:rPr lang="en-IN" sz="1600" i="1" dirty="0"/>
                  <a:t>underfitting</a:t>
                </a:r>
                <a:r>
                  <a:rPr lang="en-IN" sz="1600" dirty="0"/>
                  <a:t>.</a:t>
                </a:r>
              </a:p>
              <a:p>
                <a:pPr marL="342900" indent="-342900">
                  <a:buAutoNum type="arabicPeriod"/>
                </a:pPr>
                <a:endParaRPr lang="en-IN" sz="1600" b="1" dirty="0"/>
              </a:p>
              <a:p>
                <a:pPr marL="342900" indent="-342900">
                  <a:buAutoNum type="arabicPeriod"/>
                </a:pPr>
                <a:r>
                  <a:rPr lang="en-IN" sz="1600" b="1" dirty="0"/>
                  <a:t>Visualization:</a:t>
                </a:r>
                <a:br>
                  <a:rPr lang="en-IN" sz="1600" dirty="0"/>
                </a:br>
                <a:r>
                  <a:rPr lang="en-IN" sz="1600" dirty="0"/>
                  <a:t>Polynomial regression fits a </a:t>
                </a:r>
                <a:r>
                  <a:rPr lang="en-IN" sz="1600" i="1" dirty="0"/>
                  <a:t>smooth curve</a:t>
                </a:r>
                <a:r>
                  <a:rPr lang="en-IN" sz="1600" dirty="0"/>
                  <a:t> through data points, capturing complex patterns better than simple linear models.</a:t>
                </a:r>
              </a:p>
              <a:p>
                <a:endParaRPr lang="en-IN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5BE824-EC13-7B9D-36FB-BB00ECEEF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19" y="737419"/>
                <a:ext cx="7452852" cy="6007222"/>
              </a:xfrm>
              <a:prstGeom prst="rect">
                <a:avLst/>
              </a:prstGeom>
              <a:blipFill>
                <a:blip r:embed="rId2"/>
                <a:stretch>
                  <a:fillRect l="-491" t="-305" r="-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8BFDCED-67D4-51EB-A19F-4557043CA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59" y="2427837"/>
            <a:ext cx="4251223" cy="200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268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57C7F-8488-8AEB-C863-9067568F4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DEC5F6-D7E4-D9F6-5E9A-EABD354F5317}"/>
              </a:ext>
            </a:extLst>
          </p:cNvPr>
          <p:cNvSpPr txBox="1"/>
          <p:nvPr/>
        </p:nvSpPr>
        <p:spPr>
          <a:xfrm>
            <a:off x="4434349" y="42427"/>
            <a:ext cx="9045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Reading </a:t>
            </a:r>
            <a:r>
              <a:rPr lang="en-IN" sz="2400"/>
              <a:t>Statsmodels</a:t>
            </a:r>
            <a:endParaRPr lang="en-IN" sz="24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5177770-EA1F-FB3A-77EE-574F78125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573" y="825910"/>
            <a:ext cx="9715500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826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D7E4-DE22-95E1-E11C-DD5B393D2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F49ACF-B5A3-677A-C6D8-DFD36648E4BE}"/>
              </a:ext>
            </a:extLst>
          </p:cNvPr>
          <p:cNvSpPr txBox="1"/>
          <p:nvPr/>
        </p:nvSpPr>
        <p:spPr>
          <a:xfrm>
            <a:off x="4434349" y="42427"/>
            <a:ext cx="9045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Metrics in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93A400-1F7E-486D-D08A-1D42F0D65404}"/>
              </a:ext>
            </a:extLst>
          </p:cNvPr>
          <p:cNvSpPr txBox="1"/>
          <p:nvPr/>
        </p:nvSpPr>
        <p:spPr>
          <a:xfrm>
            <a:off x="127819" y="629264"/>
            <a:ext cx="709509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b="1" dirty="0"/>
              <a:t>R-squared (Coefficient of Determination):</a:t>
            </a:r>
            <a:br>
              <a:rPr lang="en-US" sz="1600" dirty="0"/>
            </a:br>
            <a:r>
              <a:rPr lang="en-US" sz="1600" dirty="0"/>
              <a:t>Indicates how much variance in the dependent variable is explained by the model. Higher values imply better fit.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b="1" dirty="0"/>
              <a:t>Adjusted R-squared:</a:t>
            </a:r>
            <a:br>
              <a:rPr lang="en-US" sz="1600" dirty="0"/>
            </a:br>
            <a:r>
              <a:rPr lang="en-US" sz="1600" dirty="0"/>
              <a:t>Refines R² by penalizing the addition of unnecessary predictors — helps in model comparison.</a:t>
            </a:r>
          </a:p>
          <a:p>
            <a:pPr marL="342900" indent="-342900">
              <a:buAutoNum type="arabicPeriod"/>
            </a:pPr>
            <a:endParaRPr lang="en-US" sz="1600" b="1" dirty="0"/>
          </a:p>
          <a:p>
            <a:pPr marL="342900" indent="-342900">
              <a:buAutoNum type="arabicPeriod"/>
            </a:pPr>
            <a:r>
              <a:rPr lang="en-US" sz="1600" b="1" dirty="0"/>
              <a:t>Mean Absolute Error (MAE):</a:t>
            </a:r>
            <a:br>
              <a:rPr lang="en-US" sz="1600" dirty="0"/>
            </a:br>
            <a:r>
              <a:rPr lang="en-US" sz="1600" dirty="0"/>
              <a:t>Represents the </a:t>
            </a:r>
            <a:r>
              <a:rPr lang="en-US" sz="1600" i="1" dirty="0"/>
              <a:t>average magnitude</a:t>
            </a:r>
            <a:r>
              <a:rPr lang="en-US" sz="1600" dirty="0"/>
              <a:t> of errors without considering their direction — easy to interpret in business terms.</a:t>
            </a:r>
          </a:p>
          <a:p>
            <a:pPr marL="342900" indent="-342900">
              <a:buAutoNum type="arabicPeriod"/>
            </a:pPr>
            <a:endParaRPr lang="en-US" sz="1600" b="1" dirty="0"/>
          </a:p>
          <a:p>
            <a:pPr marL="342900" indent="-342900">
              <a:buAutoNum type="arabicPeriod"/>
            </a:pPr>
            <a:r>
              <a:rPr lang="en-US" sz="1600" b="1" dirty="0"/>
              <a:t>Mean Squared Error (MSE):</a:t>
            </a:r>
            <a:br>
              <a:rPr lang="en-US" sz="1600" dirty="0"/>
            </a:br>
            <a:r>
              <a:rPr lang="en-US" sz="1600" dirty="0"/>
              <a:t>Squares the errors to penalize larger deviations — useful for emphasizing big prediction mistakes.</a:t>
            </a:r>
          </a:p>
          <a:p>
            <a:pPr marL="342900" indent="-342900">
              <a:buAutoNum type="arabicPeriod"/>
            </a:pPr>
            <a:endParaRPr lang="en-US" sz="1600" b="1" dirty="0"/>
          </a:p>
          <a:p>
            <a:pPr marL="342900" indent="-342900">
              <a:buAutoNum type="arabicPeriod"/>
            </a:pPr>
            <a:r>
              <a:rPr lang="en-US" sz="1600" b="1" dirty="0"/>
              <a:t>Root Mean Squared Error (RMSE):</a:t>
            </a:r>
            <a:br>
              <a:rPr lang="en-US" sz="1600" dirty="0"/>
            </a:br>
            <a:r>
              <a:rPr lang="en-US" sz="1600" dirty="0"/>
              <a:t>Square root of MSE, giving error in the same units as the target variable — widely used for model performance comparison.</a:t>
            </a:r>
          </a:p>
          <a:p>
            <a:pPr marL="342900" indent="-342900">
              <a:buAutoNum type="arabicPeriod"/>
            </a:pPr>
            <a:endParaRPr lang="en-US" sz="1600" b="1" dirty="0"/>
          </a:p>
          <a:p>
            <a:pPr marL="342900" indent="-342900">
              <a:buAutoNum type="arabicPeriod"/>
            </a:pPr>
            <a:r>
              <a:rPr lang="en-US" sz="1600" b="1" dirty="0"/>
              <a:t>Mean Absolute Percentage Error (MAPE):</a:t>
            </a:r>
            <a:br>
              <a:rPr lang="en-US" sz="1600" dirty="0"/>
            </a:br>
            <a:r>
              <a:rPr lang="en-US" sz="1600" dirty="0"/>
              <a:t>Expresses prediction accuracy as a percentage — intuitive for business reporting and forecasting.</a:t>
            </a:r>
          </a:p>
          <a:p>
            <a:endParaRPr lang="en-IN" sz="1600" dirty="0"/>
          </a:p>
        </p:txBody>
      </p:sp>
      <p:pic>
        <p:nvPicPr>
          <p:cNvPr id="2050" name="Picture 2" descr="Regression Model Evaluation Metrics In Depth | by Fraidoon Omarzai | Medium">
            <a:extLst>
              <a:ext uri="{FF2B5EF4-FFF2-40B4-BE49-F238E27FC236}">
                <a16:creationId xmlns:a16="http://schemas.microsoft.com/office/drawing/2014/main" id="{2658682F-158B-0EC9-4D85-BD50F81D3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2912" y="1156135"/>
            <a:ext cx="4841269" cy="478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663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F1DDF4-4C23-DF16-EF1E-DA2FD5A955D7}"/>
              </a:ext>
            </a:extLst>
          </p:cNvPr>
          <p:cNvSpPr txBox="1"/>
          <p:nvPr/>
        </p:nvSpPr>
        <p:spPr>
          <a:xfrm>
            <a:off x="353961" y="304800"/>
            <a:ext cx="11523407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Model Strength (R² and Adj. R²):</a:t>
            </a:r>
            <a:endParaRPr lang="en-US" sz="1200" dirty="0"/>
          </a:p>
          <a:p>
            <a:r>
              <a:rPr lang="en-US" sz="1200" b="1" dirty="0"/>
              <a:t>R² = 0.844</a:t>
            </a:r>
            <a:r>
              <a:rPr lang="en-US" sz="1200" dirty="0"/>
              <a:t> → The model explains </a:t>
            </a:r>
            <a:r>
              <a:rPr lang="en-US" sz="1200" b="1" dirty="0"/>
              <a:t>84.4% of price variability</a:t>
            </a:r>
            <a:r>
              <a:rPr lang="en-US" sz="1200" dirty="0"/>
              <a:t>, indicating a strong fit.</a:t>
            </a:r>
          </a:p>
          <a:p>
            <a:r>
              <a:rPr lang="en-US" sz="1200" b="1" dirty="0"/>
              <a:t>Adjusted R² = 0.844</a:t>
            </a:r>
            <a:r>
              <a:rPr lang="en-US" sz="1200" dirty="0"/>
              <a:t> → Confirms predictors add meaningful explanatory power without overfitting.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2. Overall Model Significance:</a:t>
            </a:r>
            <a:endParaRPr lang="en-US" sz="1200" dirty="0"/>
          </a:p>
          <a:p>
            <a:r>
              <a:rPr lang="en-US" sz="1200" b="1" dirty="0"/>
              <a:t>F-statistic = 3.89×10⁴, Prob(F) = 0.00</a:t>
            </a:r>
            <a:r>
              <a:rPr lang="en-US" sz="1200" dirty="0"/>
              <a:t> → The overall model is statistically significant.</a:t>
            </a:r>
          </a:p>
          <a:p>
            <a:r>
              <a:rPr lang="en-US" sz="1200" dirty="0"/>
              <a:t>Indicates that </a:t>
            </a:r>
            <a:r>
              <a:rPr lang="en-US" sz="1200" i="1" dirty="0"/>
              <a:t>at least one</a:t>
            </a:r>
            <a:r>
              <a:rPr lang="en-US" sz="1200" dirty="0"/>
              <a:t> independent variable has a significant effect on price.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3. Coefficients &amp; Significance (P-values):</a:t>
            </a:r>
            <a:endParaRPr lang="en-US" sz="1200" dirty="0"/>
          </a:p>
          <a:p>
            <a:r>
              <a:rPr lang="en-US" sz="1200" dirty="0"/>
              <a:t>All predictors (</a:t>
            </a:r>
            <a:r>
              <a:rPr lang="en-US" sz="1200" dirty="0" err="1"/>
              <a:t>sqft_living</a:t>
            </a:r>
            <a:r>
              <a:rPr lang="en-US" sz="1200" dirty="0"/>
              <a:t>, bedrooms, </a:t>
            </a:r>
            <a:r>
              <a:rPr lang="en-US" sz="1200" dirty="0" err="1"/>
              <a:t>yr_built</a:t>
            </a:r>
            <a:r>
              <a:rPr lang="en-US" sz="1200" dirty="0"/>
              <a:t>) have </a:t>
            </a:r>
            <a:r>
              <a:rPr lang="en-US" sz="1200" b="1" dirty="0"/>
              <a:t>p &lt; 0.05</a:t>
            </a:r>
            <a:r>
              <a:rPr lang="en-US" sz="1200" dirty="0"/>
              <a:t>, making them statistically significant.</a:t>
            </a:r>
          </a:p>
          <a:p>
            <a:r>
              <a:rPr lang="en-US" sz="1200" dirty="0"/>
              <a:t>The </a:t>
            </a:r>
            <a:r>
              <a:rPr lang="en-US" sz="1200" b="1" dirty="0"/>
              <a:t>sign</a:t>
            </a:r>
            <a:r>
              <a:rPr lang="en-US" sz="1200" dirty="0"/>
              <a:t> of coefficients shows direction of impact; e.g., </a:t>
            </a:r>
            <a:r>
              <a:rPr lang="en-US" sz="1200" dirty="0" err="1"/>
              <a:t>sqft_living</a:t>
            </a:r>
            <a:r>
              <a:rPr lang="en-US" sz="1200" dirty="0"/>
              <a:t> (+) vs bedrooms (–).</a:t>
            </a:r>
          </a:p>
          <a:p>
            <a:br>
              <a:rPr lang="en-US" sz="1200" dirty="0"/>
            </a:br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4. Diagnostic Checks:</a:t>
            </a:r>
            <a:endParaRPr lang="en-US" sz="1200" dirty="0"/>
          </a:p>
          <a:p>
            <a:r>
              <a:rPr lang="en-US" sz="1200" b="1" dirty="0"/>
              <a:t>Jarque-Bera (JB) = 479,299, Prob(JB) = 0.00:</a:t>
            </a:r>
            <a:r>
              <a:rPr lang="en-US" sz="1200" dirty="0"/>
              <a:t> Residuals not perfectly normal — transformation may improve results.</a:t>
            </a:r>
          </a:p>
          <a:p>
            <a:r>
              <a:rPr lang="en-US" sz="1200" b="1" dirty="0"/>
              <a:t>Condition No. = 3.87e³:</a:t>
            </a:r>
            <a:r>
              <a:rPr lang="en-US" sz="1200" dirty="0"/>
              <a:t> Indicates some </a:t>
            </a:r>
            <a:r>
              <a:rPr lang="en-US" sz="1200" b="1" dirty="0"/>
              <a:t>multicollinearity</a:t>
            </a:r>
            <a:r>
              <a:rPr lang="en-US" sz="1200" dirty="0"/>
              <a:t> among predictors, but not severe.</a:t>
            </a:r>
          </a:p>
          <a:p>
            <a:r>
              <a:rPr lang="en-US" sz="1200" b="1" dirty="0"/>
              <a:t>Prob(Omnibus) = 0.000</a:t>
            </a:r>
            <a:r>
              <a:rPr lang="en-US" sz="1200" dirty="0"/>
              <a:t> → Residuals deviate from normal distribution — normality assumption may be violated.</a:t>
            </a:r>
          </a:p>
          <a:p>
            <a:r>
              <a:rPr lang="en-US" sz="1200" b="1" dirty="0"/>
              <a:t>Skew = 2.698</a:t>
            </a:r>
            <a:r>
              <a:rPr lang="en-US" sz="1200" dirty="0"/>
              <a:t> → Positive skew, meaning residuals have a long right tail — model tends to </a:t>
            </a:r>
            <a:r>
              <a:rPr lang="en-US" sz="1200" i="1" dirty="0"/>
              <a:t>underpredict</a:t>
            </a:r>
            <a:r>
              <a:rPr lang="en-US" sz="1200" dirty="0"/>
              <a:t> for some higher values.</a:t>
            </a:r>
          </a:p>
          <a:p>
            <a:r>
              <a:rPr lang="en-US" sz="1200" b="1" dirty="0"/>
              <a:t>Kurtosis = 25.43</a:t>
            </a:r>
            <a:r>
              <a:rPr lang="en-US" sz="1200" dirty="0"/>
              <a:t> → Extremely high; suggests </a:t>
            </a:r>
            <a:r>
              <a:rPr lang="en-US" sz="1200" i="1" dirty="0"/>
              <a:t>presence of outliers</a:t>
            </a:r>
            <a:r>
              <a:rPr lang="en-US" sz="1200" dirty="0"/>
              <a:t> or a few extreme errors — may affect inference validity.</a:t>
            </a:r>
          </a:p>
          <a:p>
            <a:r>
              <a:rPr lang="en-US" sz="1200" b="1" dirty="0"/>
              <a:t>DW = 1.986</a:t>
            </a:r>
            <a:r>
              <a:rPr lang="en-US" sz="1200" dirty="0"/>
              <a:t> → Value near 2 indicates residuals are </a:t>
            </a:r>
            <a:r>
              <a:rPr lang="en-US" sz="1200" i="1" dirty="0"/>
              <a:t>independent</a:t>
            </a:r>
            <a:r>
              <a:rPr lang="en-US" sz="1200" dirty="0"/>
              <a:t> — good sign for regression assumptions.</a:t>
            </a:r>
          </a:p>
          <a:p>
            <a:r>
              <a:rPr lang="en-US" sz="1200" b="1" dirty="0"/>
              <a:t>Cond. No. = 3.87e+03</a:t>
            </a:r>
            <a:r>
              <a:rPr lang="en-US" sz="1200" dirty="0"/>
              <a:t> → Indicates </a:t>
            </a:r>
            <a:r>
              <a:rPr lang="en-US" sz="1200" i="1" dirty="0"/>
              <a:t>moderate to high multicollinearity</a:t>
            </a:r>
            <a:r>
              <a:rPr lang="en-US" sz="1200" dirty="0"/>
              <a:t>; advisable to check </a:t>
            </a:r>
            <a:r>
              <a:rPr lang="en-US" sz="1200" b="1" dirty="0"/>
              <a:t>VIF (Variance Inflation Factor)</a:t>
            </a:r>
            <a:r>
              <a:rPr lang="en-US" sz="1200" dirty="0"/>
              <a:t> values.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5. Business Implications:</a:t>
            </a:r>
            <a:endParaRPr lang="en-US" sz="1200" dirty="0"/>
          </a:p>
          <a:p>
            <a:r>
              <a:rPr lang="en-US" sz="1200" dirty="0"/>
              <a:t>The model accurately predicts prices, primarily driven by </a:t>
            </a:r>
            <a:r>
              <a:rPr lang="en-US" sz="1200" b="1" dirty="0"/>
              <a:t>living area</a:t>
            </a:r>
            <a:r>
              <a:rPr lang="en-US" sz="1200" dirty="0"/>
              <a:t> and </a:t>
            </a:r>
            <a:r>
              <a:rPr lang="en-US" sz="1200" b="1" dirty="0"/>
              <a:t>year built</a:t>
            </a:r>
            <a:r>
              <a:rPr lang="en-US" sz="1200" dirty="0"/>
              <a:t>.</a:t>
            </a:r>
          </a:p>
          <a:p>
            <a:r>
              <a:rPr lang="en-US" sz="1200" dirty="0"/>
              <a:t>Negative coefficient for </a:t>
            </a:r>
            <a:r>
              <a:rPr lang="en-US" sz="1200" b="1" dirty="0"/>
              <a:t>bedrooms</a:t>
            </a:r>
            <a:r>
              <a:rPr lang="en-US" sz="1200" dirty="0"/>
              <a:t> could signal </a:t>
            </a:r>
            <a:r>
              <a:rPr lang="en-US" sz="1200" i="1" dirty="0"/>
              <a:t>space-efficiency or multicollinearity effects</a:t>
            </a:r>
            <a:r>
              <a:rPr lang="en-US" sz="1200" dirty="0"/>
              <a:t>.</a:t>
            </a:r>
          </a:p>
          <a:p>
            <a:r>
              <a:rPr lang="en-US" sz="1200" dirty="0"/>
              <a:t>Recommend checking </a:t>
            </a:r>
            <a:r>
              <a:rPr lang="en-US" sz="1200" b="1" dirty="0"/>
              <a:t>VIF scores</a:t>
            </a:r>
            <a:r>
              <a:rPr lang="en-US" sz="1200" dirty="0"/>
              <a:t> and </a:t>
            </a:r>
            <a:r>
              <a:rPr lang="en-US" sz="1200" b="1" dirty="0"/>
              <a:t>residual plots</a:t>
            </a:r>
            <a:r>
              <a:rPr lang="en-US" sz="1200" dirty="0"/>
              <a:t> before deployment.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7315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E6795-BC5D-CC26-BBC6-E5A772B7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79CF01-CA25-8C5E-8A6B-16A1F85E830D}"/>
              </a:ext>
            </a:extLst>
          </p:cNvPr>
          <p:cNvSpPr txBox="1"/>
          <p:nvPr/>
        </p:nvSpPr>
        <p:spPr>
          <a:xfrm>
            <a:off x="3991897" y="127819"/>
            <a:ext cx="9045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Regularisation in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3B160-F2B8-BD20-D4C2-AE225D4AE5E4}"/>
              </a:ext>
            </a:extLst>
          </p:cNvPr>
          <p:cNvSpPr txBox="1"/>
          <p:nvPr/>
        </p:nvSpPr>
        <p:spPr>
          <a:xfrm>
            <a:off x="265471" y="1189702"/>
            <a:ext cx="1228049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What is Regularization?</a:t>
            </a:r>
            <a:br>
              <a:rPr lang="en-US" sz="1600" dirty="0"/>
            </a:br>
            <a:r>
              <a:rPr lang="en-US" sz="1600" dirty="0"/>
              <a:t>A technique that adds a penalty to the regression coefficients to prevent overfitting and improve generalization.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Why It’s Needed:</a:t>
            </a:r>
            <a:br>
              <a:rPr lang="en-US" sz="1600" dirty="0"/>
            </a:br>
            <a:r>
              <a:rPr lang="en-US" sz="1600" dirty="0"/>
              <a:t>High-dimensional data or correlated predictors can lead to unstable, overly complex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L1 Regularization (Lasso):</a:t>
            </a:r>
            <a:br>
              <a:rPr lang="en-US" sz="1600" dirty="0"/>
            </a:br>
            <a:r>
              <a:rPr lang="en-US" sz="1600" dirty="0"/>
              <a:t>Adds absolute penalty on coefficients; can shrink some coefficients to zero, enabling feature selection.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L2 Regularization (Ridge):</a:t>
            </a:r>
            <a:br>
              <a:rPr lang="en-US" sz="1600" dirty="0"/>
            </a:br>
            <a:r>
              <a:rPr lang="en-US" sz="1600" dirty="0"/>
              <a:t>Adds squared penalty on coefficients; stabilizes model by reducing coefficient magnitude without eliminating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Elastic Net:</a:t>
            </a:r>
            <a:br>
              <a:rPr lang="en-US" sz="1600" dirty="0"/>
            </a:br>
            <a:r>
              <a:rPr lang="en-US" sz="1600" dirty="0"/>
              <a:t>Combines L1 and L2 penalties to balance </a:t>
            </a:r>
            <a:r>
              <a:rPr lang="en-US" sz="1600" b="1" dirty="0"/>
              <a:t>shrinkage</a:t>
            </a:r>
            <a:r>
              <a:rPr lang="en-US" sz="1600" dirty="0"/>
              <a:t> and </a:t>
            </a:r>
            <a:r>
              <a:rPr lang="en-US" sz="1600" b="1" dirty="0"/>
              <a:t>feature selection</a:t>
            </a:r>
            <a:r>
              <a:rPr lang="en-US" sz="1600" dirty="0"/>
              <a:t>, useful when predictors are correlated.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Business Impact:</a:t>
            </a:r>
            <a:br>
              <a:rPr lang="en-US" sz="1600" dirty="0"/>
            </a:br>
            <a:r>
              <a:rPr lang="en-US" sz="1600" dirty="0"/>
              <a:t>Produces simpler, more stable models that avoid overfitting and perform better on unseen data.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30616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0C3CE-DA25-C90A-4FDC-276CF7602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E7A975-E49B-FC35-6EBE-16AB11EB2112}"/>
              </a:ext>
            </a:extLst>
          </p:cNvPr>
          <p:cNvSpPr txBox="1"/>
          <p:nvPr/>
        </p:nvSpPr>
        <p:spPr>
          <a:xfrm>
            <a:off x="157316" y="807591"/>
            <a:ext cx="1004856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measures how far the model’s predictions are from the actual values — essentially a “score of error.”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Why It Matters:</a:t>
            </a:r>
            <a:br>
              <a:rPr lang="en-US" dirty="0"/>
            </a:br>
            <a:r>
              <a:rPr lang="en-US" dirty="0"/>
              <a:t>The regression algorithm learns by minimizing this cost, improving prediction accuracy step by step.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How It Works:</a:t>
            </a:r>
            <a:br>
              <a:rPr lang="en-US" dirty="0"/>
            </a:br>
            <a:r>
              <a:rPr lang="en-US" dirty="0"/>
              <a:t>The model checks the difference between predicted and true values, and adjusts the coefficients to reduce this difference.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Sensitivity to Large Errors:</a:t>
            </a:r>
            <a:br>
              <a:rPr lang="en-US" dirty="0"/>
            </a:br>
            <a:r>
              <a:rPr lang="en-US" dirty="0"/>
              <a:t>Most cost functions heavily punish bigger mistakes, ensuring the model pays more attention to outliers or bad predictions.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Role in Optimization:</a:t>
            </a:r>
            <a:br>
              <a:rPr lang="en-US" dirty="0"/>
            </a:br>
            <a:r>
              <a:rPr lang="en-US" dirty="0"/>
              <a:t>Algorithms like Gradient Descent use the cost function as a guide to determine the best direction to update parameters.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With Regularization:</a:t>
            </a:r>
            <a:br>
              <a:rPr lang="en-US" dirty="0"/>
            </a:br>
            <a:r>
              <a:rPr lang="en-US" dirty="0"/>
              <a:t>Cost functions also include penalty terms (Ridge or Lasso) that keep the model simpler and prevent overfitting by controlling coefficient sizes.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D710E3-1275-F05F-68A1-B1560BEA14AF}"/>
              </a:ext>
            </a:extLst>
          </p:cNvPr>
          <p:cNvSpPr txBox="1"/>
          <p:nvPr/>
        </p:nvSpPr>
        <p:spPr>
          <a:xfrm>
            <a:off x="5004618" y="57935"/>
            <a:ext cx="9045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Cost Function</a:t>
            </a:r>
          </a:p>
        </p:txBody>
      </p:sp>
    </p:spTree>
    <p:extLst>
      <p:ext uri="{BB962C8B-B14F-4D97-AF65-F5344CB8AC3E}">
        <p14:creationId xmlns:p14="http://schemas.microsoft.com/office/powerpoint/2010/main" val="2471069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CCD53-F827-FF19-29FE-59457A929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D1EAB2-FA8B-6FDA-A9EC-C93297BF2EA4}"/>
              </a:ext>
            </a:extLst>
          </p:cNvPr>
          <p:cNvSpPr txBox="1"/>
          <p:nvPr/>
        </p:nvSpPr>
        <p:spPr>
          <a:xfrm>
            <a:off x="3077497" y="108155"/>
            <a:ext cx="9045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Concept of Underfitting / Overfitting</a:t>
            </a:r>
          </a:p>
        </p:txBody>
      </p:sp>
      <p:pic>
        <p:nvPicPr>
          <p:cNvPr id="5122" name="Picture 2" descr="What is underfitting and overfitting in machine learning and how to deal  with it. | by Anup Bhande | GreyAtom | Medium">
            <a:extLst>
              <a:ext uri="{FF2B5EF4-FFF2-40B4-BE49-F238E27FC236}">
                <a16:creationId xmlns:a16="http://schemas.microsoft.com/office/drawing/2014/main" id="{C75A67AE-5183-70FB-4402-CA04E05A6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684" y="906109"/>
            <a:ext cx="9045678" cy="295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74FF3F-25E0-22AC-AA9E-AB05E17B8795}"/>
              </a:ext>
            </a:extLst>
          </p:cNvPr>
          <p:cNvSpPr txBox="1"/>
          <p:nvPr/>
        </p:nvSpPr>
        <p:spPr>
          <a:xfrm>
            <a:off x="176981" y="4198374"/>
            <a:ext cx="1142508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Overfitting:</a:t>
            </a:r>
            <a:br>
              <a:rPr lang="en-US" dirty="0"/>
            </a:br>
            <a:r>
              <a:rPr lang="en-US" dirty="0"/>
              <a:t>Model learns noise instead of true patterns, performs great on training data but poorly on new data.</a:t>
            </a:r>
          </a:p>
          <a:p>
            <a:pPr marL="342900" indent="-342900">
              <a:buAutoNum type="arabicPeriod"/>
            </a:pP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2. Underfitting:</a:t>
            </a:r>
            <a:br>
              <a:rPr lang="en-US" dirty="0"/>
            </a:br>
            <a:r>
              <a:rPr lang="en-US" dirty="0"/>
              <a:t>Model is too simple and fails to capture underlying relationships, giving bad performance everywhere.</a:t>
            </a:r>
          </a:p>
          <a:p>
            <a:pPr marL="342900" indent="-342900">
              <a:buAutoNum type="arabicPeriod"/>
            </a:pP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3. Key Difference:</a:t>
            </a:r>
            <a:br>
              <a:rPr lang="en-US" dirty="0"/>
            </a:br>
            <a:r>
              <a:rPr lang="en-US" dirty="0"/>
              <a:t>Overfitting = too complex, memorizes; Underfitting = too simple, misses patterns.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870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idge Regression and Lasso Regression ...">
            <a:extLst>
              <a:ext uri="{FF2B5EF4-FFF2-40B4-BE49-F238E27FC236}">
                <a16:creationId xmlns:a16="http://schemas.microsoft.com/office/drawing/2014/main" id="{9A890918-4637-FC0B-63A6-D320EC5DF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373" y="2012098"/>
            <a:ext cx="4219575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FB4FB3-8198-0336-5CE4-43600360BDB1}"/>
              </a:ext>
            </a:extLst>
          </p:cNvPr>
          <p:cNvSpPr txBox="1"/>
          <p:nvPr/>
        </p:nvSpPr>
        <p:spPr>
          <a:xfrm>
            <a:off x="275302" y="943897"/>
            <a:ext cx="697107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A regression technique that adds an </a:t>
            </a:r>
            <a:r>
              <a:rPr lang="en-IN" b="1" dirty="0"/>
              <a:t>L1 penalty</a:t>
            </a:r>
            <a:r>
              <a:rPr lang="en-IN" dirty="0"/>
              <a:t> to shrink coefficients and perform automatic feature selection.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Key Idea:</a:t>
            </a:r>
            <a:br>
              <a:rPr lang="en-IN" dirty="0"/>
            </a:br>
            <a:r>
              <a:rPr lang="en-IN" dirty="0"/>
              <a:t>Minimizes the loss function while forcing some coefficients to become exactly </a:t>
            </a:r>
            <a:r>
              <a:rPr lang="en-IN" b="1" dirty="0"/>
              <a:t>zero</a:t>
            </a:r>
            <a:r>
              <a:rPr lang="en-IN" dirty="0"/>
              <a:t>, simplifying the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Why It's Useful:</a:t>
            </a:r>
            <a:br>
              <a:rPr lang="en-IN" dirty="0"/>
            </a:br>
            <a:r>
              <a:rPr lang="en-IN" dirty="0"/>
              <a:t>Effective when you have many predictors, noisy data, or when you want a sparse, interpretable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Geometric Insight:</a:t>
            </a:r>
            <a:br>
              <a:rPr lang="en-IN" dirty="0"/>
            </a:br>
            <a:r>
              <a:rPr lang="en-IN" dirty="0"/>
              <a:t>L1 penalty creates a </a:t>
            </a:r>
            <a:r>
              <a:rPr lang="en-IN" b="1" dirty="0"/>
              <a:t>diamond-shaped constraint</a:t>
            </a:r>
            <a:r>
              <a:rPr lang="en-IN" dirty="0"/>
              <a:t>, causing the error ellipse to touch the corners → coefficients drop to zero.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Business Impact:</a:t>
            </a:r>
            <a:br>
              <a:rPr lang="en-IN" dirty="0"/>
            </a:br>
            <a:r>
              <a:rPr lang="en-IN" dirty="0"/>
              <a:t>Reduces complexity, improves generalization, and highlights the </a:t>
            </a:r>
            <a:r>
              <a:rPr lang="en-IN" b="1" dirty="0"/>
              <a:t>most influential drivers</a:t>
            </a:r>
            <a:r>
              <a:rPr lang="en-IN" dirty="0"/>
              <a:t> of the outcome.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67DE45-6D18-AF69-166D-2305FCD7B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985" y="3760052"/>
            <a:ext cx="4851603" cy="21562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9B075E-1DAA-664B-A98C-EDAB54FB7512}"/>
              </a:ext>
            </a:extLst>
          </p:cNvPr>
          <p:cNvSpPr txBox="1"/>
          <p:nvPr/>
        </p:nvSpPr>
        <p:spPr>
          <a:xfrm>
            <a:off x="5043947" y="50959"/>
            <a:ext cx="9045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Lasso Regression</a:t>
            </a:r>
          </a:p>
        </p:txBody>
      </p:sp>
    </p:spTree>
    <p:extLst>
      <p:ext uri="{BB962C8B-B14F-4D97-AF65-F5344CB8AC3E}">
        <p14:creationId xmlns:p14="http://schemas.microsoft.com/office/powerpoint/2010/main" val="168260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1B49B-99F7-44C0-6A7F-BFC9116BA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EDB0AB-19B3-337A-D54D-29626CB408EC}"/>
              </a:ext>
            </a:extLst>
          </p:cNvPr>
          <p:cNvSpPr txBox="1"/>
          <p:nvPr/>
        </p:nvSpPr>
        <p:spPr>
          <a:xfrm>
            <a:off x="275302" y="943897"/>
            <a:ext cx="697107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A regularized linear regression that adds an </a:t>
            </a:r>
            <a:r>
              <a:rPr lang="en-IN" b="1" dirty="0"/>
              <a:t>L2 penalty</a:t>
            </a:r>
            <a:r>
              <a:rPr lang="en-IN" dirty="0"/>
              <a:t> to prevent overfitting and stabilize coefficients.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Key Idea:</a:t>
            </a:r>
            <a:br>
              <a:rPr lang="en-IN" dirty="0"/>
            </a:br>
            <a:r>
              <a:rPr lang="en-IN" dirty="0"/>
              <a:t>Penalizes the </a:t>
            </a:r>
            <a:r>
              <a:rPr lang="en-IN" b="1" dirty="0"/>
              <a:t>squared magnitude</a:t>
            </a:r>
            <a:r>
              <a:rPr lang="en-IN" dirty="0"/>
              <a:t> of coefficients, shrinking them toward zero without eliminating them.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When to Use Ridge:</a:t>
            </a:r>
            <a:br>
              <a:rPr lang="en-IN" dirty="0"/>
            </a:br>
            <a:r>
              <a:rPr lang="en-IN" dirty="0"/>
              <a:t>Works well when predictors are </a:t>
            </a:r>
            <a:r>
              <a:rPr lang="en-IN" b="1" dirty="0"/>
              <a:t>highly correlated</a:t>
            </a:r>
            <a:r>
              <a:rPr lang="en-IN" dirty="0"/>
              <a:t> or when all features are expected to have some effect.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Effect on Coefficients:</a:t>
            </a:r>
            <a:br>
              <a:rPr lang="en-IN" dirty="0"/>
            </a:br>
            <a:r>
              <a:rPr lang="en-IN" dirty="0"/>
              <a:t>Reduces coefficient variance, but </a:t>
            </a:r>
            <a:r>
              <a:rPr lang="en-IN" b="1" dirty="0"/>
              <a:t>no coefficient becomes exactly zero</a:t>
            </a:r>
            <a:r>
              <a:rPr lang="en-IN" dirty="0"/>
              <a:t> (unlike Lasso).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Business Impact:</a:t>
            </a:r>
            <a:br>
              <a:rPr lang="en-IN" dirty="0"/>
            </a:br>
            <a:r>
              <a:rPr lang="en-IN" dirty="0"/>
              <a:t>Produces more </a:t>
            </a:r>
            <a:r>
              <a:rPr lang="en-IN" b="1" dirty="0"/>
              <a:t>stable and generalizable</a:t>
            </a:r>
            <a:r>
              <a:rPr lang="en-IN" dirty="0"/>
              <a:t> models, especially with noisy, multicollinear data.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FA18C0-5E41-9A08-3C3A-0F032FF5A62C}"/>
              </a:ext>
            </a:extLst>
          </p:cNvPr>
          <p:cNvSpPr txBox="1"/>
          <p:nvPr/>
        </p:nvSpPr>
        <p:spPr>
          <a:xfrm>
            <a:off x="5043947" y="50959"/>
            <a:ext cx="9045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Ridge Regression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880982-910B-D50A-F5B1-ED01C2D6B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6749" y="3075999"/>
            <a:ext cx="3003264" cy="2774905"/>
          </a:xfrm>
          <a:prstGeom prst="rect">
            <a:avLst/>
          </a:prstGeom>
        </p:spPr>
      </p:pic>
      <p:pic>
        <p:nvPicPr>
          <p:cNvPr id="4100" name="Picture 4" descr="Ridge Regression Concepts &amp; Python ...">
            <a:extLst>
              <a:ext uri="{FF2B5EF4-FFF2-40B4-BE49-F238E27FC236}">
                <a16:creationId xmlns:a16="http://schemas.microsoft.com/office/drawing/2014/main" id="{30DC28D9-2F26-5297-EE7E-60A77CF18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8520" y="1520776"/>
            <a:ext cx="4507169" cy="745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5861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ow to Choose Different Types of Linear Regression? | by Xinqian Zhai |  Medium">
            <a:extLst>
              <a:ext uri="{FF2B5EF4-FFF2-40B4-BE49-F238E27FC236}">
                <a16:creationId xmlns:a16="http://schemas.microsoft.com/office/drawing/2014/main" id="{20F1EFB1-B3A9-474A-F234-B7AB03D89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890" y="1050740"/>
            <a:ext cx="8662220" cy="4040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8627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228810D-C3CC-7628-40E8-6E8DA5EDC3D7}"/>
              </a:ext>
            </a:extLst>
          </p:cNvPr>
          <p:cNvSpPr txBox="1"/>
          <p:nvPr/>
        </p:nvSpPr>
        <p:spPr>
          <a:xfrm>
            <a:off x="2290916" y="147484"/>
            <a:ext cx="71283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Ridge vs Lasso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D0F8B01-1CB9-5312-EF1A-00EA451D5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388292"/>
              </p:ext>
            </p:extLst>
          </p:nvPr>
        </p:nvGraphicFramePr>
        <p:xfrm>
          <a:off x="1197827" y="1702133"/>
          <a:ext cx="9098253" cy="4125804"/>
        </p:xfrm>
        <a:graphic>
          <a:graphicData uri="http://schemas.openxmlformats.org/drawingml/2006/table">
            <a:tbl>
              <a:tblPr/>
              <a:tblGrid>
                <a:gridCol w="3032751">
                  <a:extLst>
                    <a:ext uri="{9D8B030D-6E8A-4147-A177-3AD203B41FA5}">
                      <a16:colId xmlns:a16="http://schemas.microsoft.com/office/drawing/2014/main" val="394661675"/>
                    </a:ext>
                  </a:extLst>
                </a:gridCol>
                <a:gridCol w="3032751">
                  <a:extLst>
                    <a:ext uri="{9D8B030D-6E8A-4147-A177-3AD203B41FA5}">
                      <a16:colId xmlns:a16="http://schemas.microsoft.com/office/drawing/2014/main" val="3290231981"/>
                    </a:ext>
                  </a:extLst>
                </a:gridCol>
                <a:gridCol w="3032751">
                  <a:extLst>
                    <a:ext uri="{9D8B030D-6E8A-4147-A177-3AD203B41FA5}">
                      <a16:colId xmlns:a16="http://schemas.microsoft.com/office/drawing/2014/main" val="1964616738"/>
                    </a:ext>
                  </a:extLst>
                </a:gridCol>
              </a:tblGrid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Feature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Ridge Regression (L2)</a:t>
                      </a:r>
                      <a:endParaRPr lang="en-IN" sz="160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Lasso Regression (L1)</a:t>
                      </a:r>
                      <a:endParaRPr lang="en-IN" sz="160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40532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Penalty Type</a:t>
                      </a:r>
                      <a:endParaRPr lang="en-IN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Sum of squared coefficients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Sum of absolute coefficients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571629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Effect on Coefficients</a:t>
                      </a:r>
                      <a:endParaRPr lang="en-IN" sz="160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Shrinks coefficients but </a:t>
                      </a:r>
                      <a:r>
                        <a:rPr lang="en-US" sz="1600" b="1" dirty="0"/>
                        <a:t>never makes them zero</a:t>
                      </a:r>
                      <a:endParaRPr lang="en-US" sz="160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Shrinks and can set coefficients </a:t>
                      </a:r>
                      <a:r>
                        <a:rPr lang="en-US" sz="1600" b="1" dirty="0"/>
                        <a:t>exactly to zero</a:t>
                      </a:r>
                      <a:endParaRPr lang="en-US" sz="160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831383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Feature Selection</a:t>
                      </a:r>
                      <a:endParaRPr lang="en-IN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No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Yes (built-in feature selection)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58650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Use Case</a:t>
                      </a:r>
                      <a:endParaRPr lang="en-IN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When most predictors are useful; multicollinearity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When you want a sparse model or many useless predictors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222502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Stability</a:t>
                      </a:r>
                      <a:endParaRPr lang="en-IN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More stable when predictors are correlated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Less stable with high correlation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954980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Geometry</a:t>
                      </a:r>
                      <a:endParaRPr lang="en-IN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Circular constraint (smooth)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Diamond constraint (sharp corners)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487815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Interpretability</a:t>
                      </a:r>
                      <a:endParaRPr lang="en-IN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Moderate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High (because of sparsity)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640491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Best For</a:t>
                      </a:r>
                      <a:endParaRPr lang="en-IN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Preventing overfitting; correlated features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Identifying key drivers; reducing model complexity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3824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712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2644</TotalTime>
  <Words>1399</Words>
  <Application>Microsoft Office PowerPoint</Application>
  <PresentationFormat>Widescreen</PresentationFormat>
  <Paragraphs>142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Regression in Business  Regularisation in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satej raste</dc:creator>
  <cp:lastModifiedBy>satej raste</cp:lastModifiedBy>
  <cp:revision>3</cp:revision>
  <dcterms:created xsi:type="dcterms:W3CDTF">2025-11-12T13:08:14Z</dcterms:created>
  <dcterms:modified xsi:type="dcterms:W3CDTF">2025-11-15T15:08:20Z</dcterms:modified>
</cp:coreProperties>
</file>